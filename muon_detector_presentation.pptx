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Накопительный счёт мюонов</c:v>
                </c:pt>
              </c:strCache>
            </c:strRef>
          </c:tx>
          <c:spPr>
            <a:solidFill>
              <a:srgbClr val="2E3A8C"/>
            </a:solidFill>
            <a:ln w="31750" cap="flat">
              <a:solidFill>
                <a:srgbClr val="2E3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3A8C"/>
              </a:solidFill>
              <a:ln w="9525" cap="flat">
                <a:solidFill>
                  <a:srgbClr val="2E3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12</c:v>
                  </c:pt>
                  <c:pt idx="1">
                    <c:v>16</c:v>
                  </c:pt>
                  <c:pt idx="2">
                    <c:v>31</c:v>
                  </c:pt>
                  <c:pt idx="3">
                    <c:v>46</c:v>
                  </c:pt>
                  <c:pt idx="4">
                    <c:v>61</c:v>
                  </c:pt>
                  <c:pt idx="5">
                    <c:v>73</c:v>
                  </c:pt>
                  <c:pt idx="6">
                    <c:v>78</c:v>
                  </c:pt>
                  <c:pt idx="7">
                    <c:v>82</c:v>
                  </c:pt>
                  <c:pt idx="8">
                    <c:v>92</c:v>
                  </c:pt>
                  <c:pt idx="9">
                    <c:v>107</c:v>
                  </c:pt>
                  <c:pt idx="10">
                    <c:v>123</c:v>
                  </c:pt>
                  <c:pt idx="11">
                    <c:v>138</c:v>
                  </c:pt>
                  <c:pt idx="12">
                    <c:v>142</c:v>
                  </c:pt>
                  <c:pt idx="13">
                    <c:v>146</c:v>
                  </c:pt>
                  <c:pt idx="14">
                    <c:v>151</c:v>
                  </c:pt>
                  <c:pt idx="15">
                    <c:v>154</c:v>
                  </c:pt>
                  <c:pt idx="16">
                    <c:v>166</c:v>
                  </c:pt>
                  <c:pt idx="17">
                    <c:v>184</c:v>
                  </c:pt>
                  <c:pt idx="18">
                    <c:v>202</c:v>
                  </c:pt>
                  <c:pt idx="19">
                    <c:v>214</c:v>
                  </c:pt>
                  <c:pt idx="20">
                    <c:v>218</c:v>
                  </c:pt>
                  <c:pt idx="21">
                    <c:v>221</c:v>
                  </c:pt>
                  <c:pt idx="22">
                    <c:v>224</c:v>
                  </c:pt>
                  <c:pt idx="23">
                    <c:v>227</c:v>
                  </c:pt>
                  <c:pt idx="24">
                    <c:v>230</c:v>
                  </c:pt>
                  <c:pt idx="25">
                    <c:v>234</c:v>
                  </c:pt>
                  <c:pt idx="26">
                    <c:v>239</c:v>
                  </c:pt>
                  <c:pt idx="27">
                    <c:v>254</c:v>
                  </c:pt>
                  <c:pt idx="28">
                    <c:v>269</c:v>
                  </c:pt>
                  <c:pt idx="29">
                    <c:v>286</c:v>
                  </c:pt>
                  <c:pt idx="30">
                    <c:v>298</c:v>
                  </c:pt>
                  <c:pt idx="31">
                    <c:v>301</c:v>
                  </c:pt>
                  <c:pt idx="32">
                    <c:v>304</c:v>
                  </c:pt>
                  <c:pt idx="33">
                    <c:v>307</c:v>
                  </c:pt>
                  <c:pt idx="34">
                    <c:v>311</c:v>
                  </c:pt>
                  <c:pt idx="35">
                    <c:v>314</c:v>
                  </c:pt>
                  <c:pt idx="36">
                    <c:v>321</c:v>
                  </c:pt>
                  <c:pt idx="37">
                    <c:v>338</c:v>
                  </c:pt>
                  <c:pt idx="38">
                    <c:v>356</c:v>
                  </c:pt>
                  <c:pt idx="39">
                    <c:v>372</c:v>
                  </c:pt>
                  <c:pt idx="40">
                    <c:v>376</c:v>
                  </c:pt>
                  <c:pt idx="41">
                    <c:v>379</c:v>
                  </c:pt>
                  <c:pt idx="42">
                    <c:v>382</c:v>
                  </c:pt>
                  <c:pt idx="43">
                    <c:v>385</c:v>
                  </c:pt>
                  <c:pt idx="44">
                    <c:v>389</c:v>
                  </c:pt>
                  <c:pt idx="45">
                    <c:v>392</c:v>
                  </c:pt>
                  <c:pt idx="46">
                    <c:v>395</c:v>
                  </c:pt>
                  <c:pt idx="47">
                    <c:v>399</c:v>
                  </c:pt>
                  <c:pt idx="48">
                    <c:v>410</c:v>
                  </c:pt>
                  <c:pt idx="49">
                    <c:v>428</c:v>
                  </c:pt>
                  <c:pt idx="50">
                    <c:v>446</c:v>
                  </c:pt>
                  <c:pt idx="51">
                    <c:v>459</c:v>
                  </c:pt>
                </c:lvl>
              </c:multiLvlStrCache>
            </c:multiLvlStrRef>
          </c:cat>
          <c:val>
            <c:numRef>
              <c:f>Sheet1!$B$2:$B$53</c:f>
              <c:numCache>
                <c:formatCode>General</c:formatCode>
                <c:ptCount val="52"/>
                <c:pt idx="0">
                  <c:v>4</c:v>
                </c:pt>
                <c:pt idx="1">
                  <c:v>9</c:v>
                </c:pt>
                <c:pt idx="2">
                  <c:v>25</c:v>
                </c:pt>
                <c:pt idx="3">
                  <c:v>46</c:v>
                </c:pt>
                <c:pt idx="4">
                  <c:v>64</c:v>
                </c:pt>
                <c:pt idx="5">
                  <c:v>84</c:v>
                </c:pt>
                <c:pt idx="6">
                  <c:v>90</c:v>
                </c:pt>
                <c:pt idx="7">
                  <c:v>93</c:v>
                </c:pt>
                <c:pt idx="8">
                  <c:v>97</c:v>
                </c:pt>
                <c:pt idx="9">
                  <c:v>114</c:v>
                </c:pt>
                <c:pt idx="10">
                  <c:v>136</c:v>
                </c:pt>
                <c:pt idx="11">
                  <c:v>158</c:v>
                </c:pt>
                <c:pt idx="12">
                  <c:v>164</c:v>
                </c:pt>
                <c:pt idx="13">
                  <c:v>166</c:v>
                </c:pt>
                <c:pt idx="14">
                  <c:v>173</c:v>
                </c:pt>
                <c:pt idx="15">
                  <c:v>177</c:v>
                </c:pt>
                <c:pt idx="16">
                  <c:v>192</c:v>
                </c:pt>
                <c:pt idx="17">
                  <c:v>201</c:v>
                </c:pt>
                <c:pt idx="18">
                  <c:v>214</c:v>
                </c:pt>
                <c:pt idx="19">
                  <c:v>226</c:v>
                </c:pt>
                <c:pt idx="20">
                  <c:v>228</c:v>
                </c:pt>
                <c:pt idx="21">
                  <c:v>231</c:v>
                </c:pt>
                <c:pt idx="22">
                  <c:v>233</c:v>
                </c:pt>
                <c:pt idx="23">
                  <c:v>239</c:v>
                </c:pt>
                <c:pt idx="24">
                  <c:v>242</c:v>
                </c:pt>
                <c:pt idx="25">
                  <c:v>245</c:v>
                </c:pt>
                <c:pt idx="26">
                  <c:v>254</c:v>
                </c:pt>
                <c:pt idx="27">
                  <c:v>273</c:v>
                </c:pt>
                <c:pt idx="28">
                  <c:v>294</c:v>
                </c:pt>
                <c:pt idx="29">
                  <c:v>319</c:v>
                </c:pt>
                <c:pt idx="30">
                  <c:v>338</c:v>
                </c:pt>
                <c:pt idx="31">
                  <c:v>341</c:v>
                </c:pt>
                <c:pt idx="32">
                  <c:v>343</c:v>
                </c:pt>
                <c:pt idx="33">
                  <c:v>350</c:v>
                </c:pt>
                <c:pt idx="34">
                  <c:v>356</c:v>
                </c:pt>
                <c:pt idx="35">
                  <c:v>358</c:v>
                </c:pt>
                <c:pt idx="36">
                  <c:v>366</c:v>
                </c:pt>
                <c:pt idx="37">
                  <c:v>389</c:v>
                </c:pt>
                <c:pt idx="38">
                  <c:v>410</c:v>
                </c:pt>
                <c:pt idx="39">
                  <c:v>432</c:v>
                </c:pt>
                <c:pt idx="40">
                  <c:v>439</c:v>
                </c:pt>
                <c:pt idx="41">
                  <c:v>445</c:v>
                </c:pt>
                <c:pt idx="42">
                  <c:v>450</c:v>
                </c:pt>
                <c:pt idx="43">
                  <c:v>455</c:v>
                </c:pt>
                <c:pt idx="44">
                  <c:v>459</c:v>
                </c:pt>
                <c:pt idx="45">
                  <c:v>464</c:v>
                </c:pt>
                <c:pt idx="46">
                  <c:v>468</c:v>
                </c:pt>
                <c:pt idx="47">
                  <c:v>477</c:v>
                </c:pt>
                <c:pt idx="48">
                  <c:v>489</c:v>
                </c:pt>
                <c:pt idx="49">
                  <c:v>510</c:v>
                </c:pt>
                <c:pt idx="50">
                  <c:v>540</c:v>
                </c:pt>
                <c:pt idx="51">
                  <c:v>564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F73"/>
                    </a:solidFill>
                    <a:latin typeface="Arial"/>
                  </a:rPr>
                  <a:t>время видео, сек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7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F73"/>
                    </a:solidFill>
                    <a:latin typeface="Arial"/>
                  </a:rPr>
                  <a:t>накопительный счёт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Пуассон (точно)</c:v>
                </c:pt>
              </c:strCache>
            </c:strRef>
          </c:tx>
          <c:spPr>
            <a:solidFill>
              <a:srgbClr val="F287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Sheet1!$A$2:$A$73</c:f>
              <c:multiLvlStrCache>
                <c:ptCount val="72"/>
                <c:lvl>
                  <c:pt idx="0">
                    <c:v>42</c:v>
                  </c:pt>
                  <c:pt idx="1">
                    <c:v>43</c:v>
                  </c:pt>
                  <c:pt idx="2">
                    <c:v>44</c:v>
                  </c:pt>
                  <c:pt idx="3">
                    <c:v>45</c:v>
                  </c:pt>
                  <c:pt idx="4">
                    <c:v>46</c:v>
                  </c:pt>
                  <c:pt idx="5">
                    <c:v>47</c:v>
                  </c:pt>
                  <c:pt idx="6">
                    <c:v>48</c:v>
                  </c:pt>
                  <c:pt idx="7">
                    <c:v>49</c:v>
                  </c:pt>
                  <c:pt idx="8">
                    <c:v>50</c:v>
                  </c:pt>
                  <c:pt idx="9">
                    <c:v>51</c:v>
                  </c:pt>
                  <c:pt idx="10">
                    <c:v>52</c:v>
                  </c:pt>
                  <c:pt idx="11">
                    <c:v>53</c:v>
                  </c:pt>
                  <c:pt idx="12">
                    <c:v>54</c:v>
                  </c:pt>
                  <c:pt idx="13">
                    <c:v>55</c:v>
                  </c:pt>
                  <c:pt idx="14">
                    <c:v>56</c:v>
                  </c:pt>
                  <c:pt idx="15">
                    <c:v>57</c:v>
                  </c:pt>
                  <c:pt idx="16">
                    <c:v>58</c:v>
                  </c:pt>
                  <c:pt idx="17">
                    <c:v>59</c:v>
                  </c:pt>
                  <c:pt idx="18">
                    <c:v>60</c:v>
                  </c:pt>
                  <c:pt idx="19">
                    <c:v>61</c:v>
                  </c:pt>
                  <c:pt idx="20">
                    <c:v>62</c:v>
                  </c:pt>
                  <c:pt idx="21">
                    <c:v>63</c:v>
                  </c:pt>
                  <c:pt idx="22">
                    <c:v>64</c:v>
                  </c:pt>
                  <c:pt idx="23">
                    <c:v>65</c:v>
                  </c:pt>
                  <c:pt idx="24">
                    <c:v>66</c:v>
                  </c:pt>
                  <c:pt idx="25">
                    <c:v>67</c:v>
                  </c:pt>
                  <c:pt idx="26">
                    <c:v>68</c:v>
                  </c:pt>
                  <c:pt idx="27">
                    <c:v>69</c:v>
                  </c:pt>
                  <c:pt idx="28">
                    <c:v>70</c:v>
                  </c:pt>
                  <c:pt idx="29">
                    <c:v>71</c:v>
                  </c:pt>
                  <c:pt idx="30">
                    <c:v>72</c:v>
                  </c:pt>
                  <c:pt idx="31">
                    <c:v>73</c:v>
                  </c:pt>
                  <c:pt idx="32">
                    <c:v>74</c:v>
                  </c:pt>
                  <c:pt idx="33">
                    <c:v>75</c:v>
                  </c:pt>
                  <c:pt idx="34">
                    <c:v>76</c:v>
                  </c:pt>
                  <c:pt idx="35">
                    <c:v>77</c:v>
                  </c:pt>
                  <c:pt idx="36">
                    <c:v>78</c:v>
                  </c:pt>
                  <c:pt idx="37">
                    <c:v>79</c:v>
                  </c:pt>
                  <c:pt idx="38">
                    <c:v>80</c:v>
                  </c:pt>
                  <c:pt idx="39">
                    <c:v>81</c:v>
                  </c:pt>
                  <c:pt idx="40">
                    <c:v>82</c:v>
                  </c:pt>
                  <c:pt idx="41">
                    <c:v>83</c:v>
                  </c:pt>
                  <c:pt idx="42">
                    <c:v>84</c:v>
                  </c:pt>
                  <c:pt idx="43">
                    <c:v>85</c:v>
                  </c:pt>
                  <c:pt idx="44">
                    <c:v>86</c:v>
                  </c:pt>
                  <c:pt idx="45">
                    <c:v>87</c:v>
                  </c:pt>
                  <c:pt idx="46">
                    <c:v>88</c:v>
                  </c:pt>
                  <c:pt idx="47">
                    <c:v>89</c:v>
                  </c:pt>
                  <c:pt idx="48">
                    <c:v>90</c:v>
                  </c:pt>
                  <c:pt idx="49">
                    <c:v>91</c:v>
                  </c:pt>
                  <c:pt idx="50">
                    <c:v>92</c:v>
                  </c:pt>
                  <c:pt idx="51">
                    <c:v>93</c:v>
                  </c:pt>
                  <c:pt idx="52">
                    <c:v>94</c:v>
                  </c:pt>
                  <c:pt idx="53">
                    <c:v>95</c:v>
                  </c:pt>
                  <c:pt idx="54">
                    <c:v>96</c:v>
                  </c:pt>
                  <c:pt idx="55">
                    <c:v>97</c:v>
                  </c:pt>
                  <c:pt idx="56">
                    <c:v>98</c:v>
                  </c:pt>
                  <c:pt idx="57">
                    <c:v>99</c:v>
                  </c:pt>
                  <c:pt idx="58">
                    <c:v>100</c:v>
                  </c:pt>
                  <c:pt idx="59">
                    <c:v>101</c:v>
                  </c:pt>
                  <c:pt idx="60">
                    <c:v>102</c:v>
                  </c:pt>
                  <c:pt idx="61">
                    <c:v>103</c:v>
                  </c:pt>
                  <c:pt idx="62">
                    <c:v>104</c:v>
                  </c:pt>
                  <c:pt idx="63">
                    <c:v>105</c:v>
                  </c:pt>
                  <c:pt idx="64">
                    <c:v>106</c:v>
                  </c:pt>
                  <c:pt idx="65">
                    <c:v>107</c:v>
                  </c:pt>
                  <c:pt idx="66">
                    <c:v>108</c:v>
                  </c:pt>
                  <c:pt idx="67">
                    <c:v>109</c:v>
                  </c:pt>
                  <c:pt idx="68">
                    <c:v>110</c:v>
                  </c:pt>
                  <c:pt idx="69">
                    <c:v>111</c:v>
                  </c:pt>
                  <c:pt idx="70">
                    <c:v>112</c:v>
                  </c:pt>
                  <c:pt idx="71">
                    <c:v>113</c:v>
                  </c:pt>
                </c:lvl>
              </c:multiLvlStrCache>
            </c:multiLvlStrRef>
          </c:cat>
          <c:val>
            <c:numRef>
              <c:f>Sheet1!$B$2:$B$73</c:f>
              <c:numCache>
                <c:formatCode>General</c:formatCode>
                <c:ptCount val="72"/>
                <c:pt idx="0">
                  <c:v>0</c:v>
                </c:pt>
                <c:pt idx="1">
                  <c:v>0.00001</c:v>
                </c:pt>
                <c:pt idx="2">
                  <c:v>0.00001</c:v>
                </c:pt>
                <c:pt idx="3">
                  <c:v>0.00002</c:v>
                </c:pt>
                <c:pt idx="4">
                  <c:v>0.00003</c:v>
                </c:pt>
                <c:pt idx="5">
                  <c:v>0.00005</c:v>
                </c:pt>
                <c:pt idx="6">
                  <c:v>0.00009</c:v>
                </c:pt>
                <c:pt idx="7">
                  <c:v>0.00014</c:v>
                </c:pt>
                <c:pt idx="8">
                  <c:v>0.00021</c:v>
                </c:pt>
                <c:pt idx="9">
                  <c:v>0.00032</c:v>
                </c:pt>
                <c:pt idx="10">
                  <c:v>0.00048</c:v>
                </c:pt>
                <c:pt idx="11">
                  <c:v>0.0007</c:v>
                </c:pt>
                <c:pt idx="12">
                  <c:v>0.001</c:v>
                </c:pt>
                <c:pt idx="13">
                  <c:v>0.00141</c:v>
                </c:pt>
                <c:pt idx="14">
                  <c:v>0.00196</c:v>
                </c:pt>
                <c:pt idx="15">
                  <c:v>0.00266</c:v>
                </c:pt>
                <c:pt idx="16">
                  <c:v>0.00355</c:v>
                </c:pt>
                <c:pt idx="17">
                  <c:v>0.00467</c:v>
                </c:pt>
                <c:pt idx="18">
                  <c:v>0.00603</c:v>
                </c:pt>
                <c:pt idx="19">
                  <c:v>0.00766</c:v>
                </c:pt>
                <c:pt idx="20">
                  <c:v>0.00957</c:v>
                </c:pt>
                <c:pt idx="21">
                  <c:v>0.01177</c:v>
                </c:pt>
                <c:pt idx="22">
                  <c:v>0.01426</c:v>
                </c:pt>
                <c:pt idx="23">
                  <c:v>0.017</c:v>
                </c:pt>
                <c:pt idx="24">
                  <c:v>0.01996</c:v>
                </c:pt>
                <c:pt idx="25">
                  <c:v>0.02309</c:v>
                </c:pt>
                <c:pt idx="26">
                  <c:v>0.02632</c:v>
                </c:pt>
                <c:pt idx="27">
                  <c:v>0.02956</c:v>
                </c:pt>
                <c:pt idx="28">
                  <c:v>0.03273</c:v>
                </c:pt>
                <c:pt idx="29">
                  <c:v>0.03572</c:v>
                </c:pt>
                <c:pt idx="30">
                  <c:v>0.03845</c:v>
                </c:pt>
                <c:pt idx="31">
                  <c:v>0.04082</c:v>
                </c:pt>
                <c:pt idx="32">
                  <c:v>0.04275</c:v>
                </c:pt>
                <c:pt idx="33">
                  <c:v>0.04418</c:v>
                </c:pt>
                <c:pt idx="34">
                  <c:v>0.04505</c:v>
                </c:pt>
                <c:pt idx="35">
                  <c:v>0.04534</c:v>
                </c:pt>
                <c:pt idx="36">
                  <c:v>0.04505</c:v>
                </c:pt>
                <c:pt idx="37">
                  <c:v>0.0442</c:v>
                </c:pt>
                <c:pt idx="38">
                  <c:v>0.04281</c:v>
                </c:pt>
                <c:pt idx="39">
                  <c:v>0.04096</c:v>
                </c:pt>
                <c:pt idx="40">
                  <c:v>0.03872</c:v>
                </c:pt>
                <c:pt idx="41">
                  <c:v>0.03615</c:v>
                </c:pt>
                <c:pt idx="42">
                  <c:v>0.03335</c:v>
                </c:pt>
                <c:pt idx="43">
                  <c:v>0.03041</c:v>
                </c:pt>
                <c:pt idx="44">
                  <c:v>0.0274</c:v>
                </c:pt>
                <c:pt idx="45">
                  <c:v>0.02441</c:v>
                </c:pt>
                <c:pt idx="46">
                  <c:v>0.0215</c:v>
                </c:pt>
                <c:pt idx="47">
                  <c:v>0.01872</c:v>
                </c:pt>
                <c:pt idx="48">
                  <c:v>0.01612</c:v>
                </c:pt>
                <c:pt idx="49">
                  <c:v>0.01373</c:v>
                </c:pt>
                <c:pt idx="50">
                  <c:v>0.01157</c:v>
                </c:pt>
                <c:pt idx="51">
                  <c:v>0.00964</c:v>
                </c:pt>
                <c:pt idx="52">
                  <c:v>0.00795</c:v>
                </c:pt>
                <c:pt idx="53">
                  <c:v>0.00648</c:v>
                </c:pt>
                <c:pt idx="54">
                  <c:v>0.00523</c:v>
                </c:pt>
                <c:pt idx="55">
                  <c:v>0.00418</c:v>
                </c:pt>
                <c:pt idx="56">
                  <c:v>0.00331</c:v>
                </c:pt>
                <c:pt idx="57">
                  <c:v>0.00259</c:v>
                </c:pt>
                <c:pt idx="58">
                  <c:v>0.00201</c:v>
                </c:pt>
                <c:pt idx="59">
                  <c:v>0.00154</c:v>
                </c:pt>
                <c:pt idx="60">
                  <c:v>0.00117</c:v>
                </c:pt>
                <c:pt idx="61">
                  <c:v>0.00088</c:v>
                </c:pt>
                <c:pt idx="62">
                  <c:v>0.00066</c:v>
                </c:pt>
                <c:pt idx="63">
                  <c:v>0.00048</c:v>
                </c:pt>
                <c:pt idx="64">
                  <c:v>0.00035</c:v>
                </c:pt>
                <c:pt idx="65">
                  <c:v>0.00026</c:v>
                </c:pt>
                <c:pt idx="66">
                  <c:v>0.00018</c:v>
                </c:pt>
                <c:pt idx="67">
                  <c:v>0.00013</c:v>
                </c:pt>
                <c:pt idx="68">
                  <c:v>0.00009</c:v>
                </c:pt>
                <c:pt idx="69">
                  <c:v>0.00006</c:v>
                </c:pt>
                <c:pt idx="70">
                  <c:v>0.00004</c:v>
                </c:pt>
                <c:pt idx="71">
                  <c:v>0.00003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Нормальное приближение</c:v>
                </c:pt>
              </c:strCache>
            </c:strRef>
          </c:tx>
          <c:spPr>
            <a:solidFill>
              <a:srgbClr val="34B3A0"/>
            </a:solidFill>
            <a:ln w="31750" cap="flat">
              <a:solidFill>
                <a:srgbClr val="34B3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4B3A0"/>
              </a:solidFill>
              <a:ln w="9525" cap="flat">
                <a:solidFill>
                  <a:srgbClr val="34B3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Sheet1!$A$2:$A$73</c:f>
              <c:multiLvlStrCache>
                <c:ptCount val="72"/>
                <c:lvl>
                  <c:pt idx="0">
                    <c:v>42</c:v>
                  </c:pt>
                  <c:pt idx="1">
                    <c:v>43</c:v>
                  </c:pt>
                  <c:pt idx="2">
                    <c:v>44</c:v>
                  </c:pt>
                  <c:pt idx="3">
                    <c:v>45</c:v>
                  </c:pt>
                  <c:pt idx="4">
                    <c:v>46</c:v>
                  </c:pt>
                  <c:pt idx="5">
                    <c:v>47</c:v>
                  </c:pt>
                  <c:pt idx="6">
                    <c:v>48</c:v>
                  </c:pt>
                  <c:pt idx="7">
                    <c:v>49</c:v>
                  </c:pt>
                  <c:pt idx="8">
                    <c:v>50</c:v>
                  </c:pt>
                  <c:pt idx="9">
                    <c:v>51</c:v>
                  </c:pt>
                  <c:pt idx="10">
                    <c:v>52</c:v>
                  </c:pt>
                  <c:pt idx="11">
                    <c:v>53</c:v>
                  </c:pt>
                  <c:pt idx="12">
                    <c:v>54</c:v>
                  </c:pt>
                  <c:pt idx="13">
                    <c:v>55</c:v>
                  </c:pt>
                  <c:pt idx="14">
                    <c:v>56</c:v>
                  </c:pt>
                  <c:pt idx="15">
                    <c:v>57</c:v>
                  </c:pt>
                  <c:pt idx="16">
                    <c:v>58</c:v>
                  </c:pt>
                  <c:pt idx="17">
                    <c:v>59</c:v>
                  </c:pt>
                  <c:pt idx="18">
                    <c:v>60</c:v>
                  </c:pt>
                  <c:pt idx="19">
                    <c:v>61</c:v>
                  </c:pt>
                  <c:pt idx="20">
                    <c:v>62</c:v>
                  </c:pt>
                  <c:pt idx="21">
                    <c:v>63</c:v>
                  </c:pt>
                  <c:pt idx="22">
                    <c:v>64</c:v>
                  </c:pt>
                  <c:pt idx="23">
                    <c:v>65</c:v>
                  </c:pt>
                  <c:pt idx="24">
                    <c:v>66</c:v>
                  </c:pt>
                  <c:pt idx="25">
                    <c:v>67</c:v>
                  </c:pt>
                  <c:pt idx="26">
                    <c:v>68</c:v>
                  </c:pt>
                  <c:pt idx="27">
                    <c:v>69</c:v>
                  </c:pt>
                  <c:pt idx="28">
                    <c:v>70</c:v>
                  </c:pt>
                  <c:pt idx="29">
                    <c:v>71</c:v>
                  </c:pt>
                  <c:pt idx="30">
                    <c:v>72</c:v>
                  </c:pt>
                  <c:pt idx="31">
                    <c:v>73</c:v>
                  </c:pt>
                  <c:pt idx="32">
                    <c:v>74</c:v>
                  </c:pt>
                  <c:pt idx="33">
                    <c:v>75</c:v>
                  </c:pt>
                  <c:pt idx="34">
                    <c:v>76</c:v>
                  </c:pt>
                  <c:pt idx="35">
                    <c:v>77</c:v>
                  </c:pt>
                  <c:pt idx="36">
                    <c:v>78</c:v>
                  </c:pt>
                  <c:pt idx="37">
                    <c:v>79</c:v>
                  </c:pt>
                  <c:pt idx="38">
                    <c:v>80</c:v>
                  </c:pt>
                  <c:pt idx="39">
                    <c:v>81</c:v>
                  </c:pt>
                  <c:pt idx="40">
                    <c:v>82</c:v>
                  </c:pt>
                  <c:pt idx="41">
                    <c:v>83</c:v>
                  </c:pt>
                  <c:pt idx="42">
                    <c:v>84</c:v>
                  </c:pt>
                  <c:pt idx="43">
                    <c:v>85</c:v>
                  </c:pt>
                  <c:pt idx="44">
                    <c:v>86</c:v>
                  </c:pt>
                  <c:pt idx="45">
                    <c:v>87</c:v>
                  </c:pt>
                  <c:pt idx="46">
                    <c:v>88</c:v>
                  </c:pt>
                  <c:pt idx="47">
                    <c:v>89</c:v>
                  </c:pt>
                  <c:pt idx="48">
                    <c:v>90</c:v>
                  </c:pt>
                  <c:pt idx="49">
                    <c:v>91</c:v>
                  </c:pt>
                  <c:pt idx="50">
                    <c:v>92</c:v>
                  </c:pt>
                  <c:pt idx="51">
                    <c:v>93</c:v>
                  </c:pt>
                  <c:pt idx="52">
                    <c:v>94</c:v>
                  </c:pt>
                  <c:pt idx="53">
                    <c:v>95</c:v>
                  </c:pt>
                  <c:pt idx="54">
                    <c:v>96</c:v>
                  </c:pt>
                  <c:pt idx="55">
                    <c:v>97</c:v>
                  </c:pt>
                  <c:pt idx="56">
                    <c:v>98</c:v>
                  </c:pt>
                  <c:pt idx="57">
                    <c:v>99</c:v>
                  </c:pt>
                  <c:pt idx="58">
                    <c:v>100</c:v>
                  </c:pt>
                  <c:pt idx="59">
                    <c:v>101</c:v>
                  </c:pt>
                  <c:pt idx="60">
                    <c:v>102</c:v>
                  </c:pt>
                  <c:pt idx="61">
                    <c:v>103</c:v>
                  </c:pt>
                  <c:pt idx="62">
                    <c:v>104</c:v>
                  </c:pt>
                  <c:pt idx="63">
                    <c:v>105</c:v>
                  </c:pt>
                  <c:pt idx="64">
                    <c:v>106</c:v>
                  </c:pt>
                  <c:pt idx="65">
                    <c:v>107</c:v>
                  </c:pt>
                  <c:pt idx="66">
                    <c:v>108</c:v>
                  </c:pt>
                  <c:pt idx="67">
                    <c:v>109</c:v>
                  </c:pt>
                  <c:pt idx="68">
                    <c:v>110</c:v>
                  </c:pt>
                  <c:pt idx="69">
                    <c:v>111</c:v>
                  </c:pt>
                  <c:pt idx="70">
                    <c:v>112</c:v>
                  </c:pt>
                  <c:pt idx="71">
                    <c:v>113</c:v>
                  </c:pt>
                </c:lvl>
              </c:multiLvlStrCache>
            </c:multiLvlStrRef>
          </c:cat>
          <c:val>
            <c:numRef>
              <c:f>Sheet1!$C$2:$C$73</c:f>
              <c:numCache>
                <c:formatCode>General</c:formatCode>
                <c:ptCount val="72"/>
                <c:pt idx="0">
                  <c:v>0.00001</c:v>
                </c:pt>
                <c:pt idx="1">
                  <c:v>0.00002</c:v>
                </c:pt>
                <c:pt idx="2">
                  <c:v>0.00003</c:v>
                </c:pt>
                <c:pt idx="3">
                  <c:v>0.00005</c:v>
                </c:pt>
                <c:pt idx="4">
                  <c:v>0.00008</c:v>
                </c:pt>
                <c:pt idx="5">
                  <c:v>0.00011</c:v>
                </c:pt>
                <c:pt idx="6">
                  <c:v>0.00017</c:v>
                </c:pt>
                <c:pt idx="7">
                  <c:v>0.00024</c:v>
                </c:pt>
                <c:pt idx="8">
                  <c:v>0.00034</c:v>
                </c:pt>
                <c:pt idx="9">
                  <c:v>0.00049</c:v>
                </c:pt>
                <c:pt idx="10">
                  <c:v>0.00068</c:v>
                </c:pt>
                <c:pt idx="11">
                  <c:v>0.00094</c:v>
                </c:pt>
                <c:pt idx="12">
                  <c:v>0.00129</c:v>
                </c:pt>
                <c:pt idx="13">
                  <c:v>0.00173</c:v>
                </c:pt>
                <c:pt idx="14">
                  <c:v>0.0023</c:v>
                </c:pt>
                <c:pt idx="15">
                  <c:v>0.00301</c:v>
                </c:pt>
                <c:pt idx="16">
                  <c:v>0.0039</c:v>
                </c:pt>
                <c:pt idx="17">
                  <c:v>0.00498</c:v>
                </c:pt>
                <c:pt idx="18">
                  <c:v>0.00628</c:v>
                </c:pt>
                <c:pt idx="19">
                  <c:v>0.00782</c:v>
                </c:pt>
                <c:pt idx="20">
                  <c:v>0.00962</c:v>
                </c:pt>
                <c:pt idx="21">
                  <c:v>0.01167</c:v>
                </c:pt>
                <c:pt idx="22">
                  <c:v>0.01398</c:v>
                </c:pt>
                <c:pt idx="23">
                  <c:v>0.01654</c:v>
                </c:pt>
                <c:pt idx="24">
                  <c:v>0.01931</c:v>
                </c:pt>
                <c:pt idx="25">
                  <c:v>0.02225</c:v>
                </c:pt>
                <c:pt idx="26">
                  <c:v>0.02532</c:v>
                </c:pt>
                <c:pt idx="27">
                  <c:v>0.02843</c:v>
                </c:pt>
                <c:pt idx="28">
                  <c:v>0.03152</c:v>
                </c:pt>
                <c:pt idx="29">
                  <c:v>0.0345</c:v>
                </c:pt>
                <c:pt idx="30">
                  <c:v>0.03728</c:v>
                </c:pt>
                <c:pt idx="31">
                  <c:v>0.03977</c:v>
                </c:pt>
                <c:pt idx="32">
                  <c:v>0.04187</c:v>
                </c:pt>
                <c:pt idx="33">
                  <c:v>0.04353</c:v>
                </c:pt>
                <c:pt idx="34">
                  <c:v>0.04466</c:v>
                </c:pt>
                <c:pt idx="35">
                  <c:v>0.04524</c:v>
                </c:pt>
                <c:pt idx="36">
                  <c:v>0.04524</c:v>
                </c:pt>
                <c:pt idx="37">
                  <c:v>0.04466</c:v>
                </c:pt>
                <c:pt idx="38">
                  <c:v>0.04353</c:v>
                </c:pt>
                <c:pt idx="39">
                  <c:v>0.04187</c:v>
                </c:pt>
                <c:pt idx="40">
                  <c:v>0.03977</c:v>
                </c:pt>
                <c:pt idx="41">
                  <c:v>0.03728</c:v>
                </c:pt>
                <c:pt idx="42">
                  <c:v>0.0345</c:v>
                </c:pt>
                <c:pt idx="43">
                  <c:v>0.03152</c:v>
                </c:pt>
                <c:pt idx="44">
                  <c:v>0.02843</c:v>
                </c:pt>
                <c:pt idx="45">
                  <c:v>0.02532</c:v>
                </c:pt>
                <c:pt idx="46">
                  <c:v>0.02225</c:v>
                </c:pt>
                <c:pt idx="47">
                  <c:v>0.01931</c:v>
                </c:pt>
                <c:pt idx="48">
                  <c:v>0.01654</c:v>
                </c:pt>
                <c:pt idx="49">
                  <c:v>0.01398</c:v>
                </c:pt>
                <c:pt idx="50">
                  <c:v>0.01167</c:v>
                </c:pt>
                <c:pt idx="51">
                  <c:v>0.00962</c:v>
                </c:pt>
                <c:pt idx="52">
                  <c:v>0.00782</c:v>
                </c:pt>
                <c:pt idx="53">
                  <c:v>0.00628</c:v>
                </c:pt>
                <c:pt idx="54">
                  <c:v>0.00498</c:v>
                </c:pt>
                <c:pt idx="55">
                  <c:v>0.0039</c:v>
                </c:pt>
                <c:pt idx="56">
                  <c:v>0.00301</c:v>
                </c:pt>
                <c:pt idx="57">
                  <c:v>0.0023</c:v>
                </c:pt>
                <c:pt idx="58">
                  <c:v>0.00173</c:v>
                </c:pt>
                <c:pt idx="59">
                  <c:v>0.00129</c:v>
                </c:pt>
                <c:pt idx="60">
                  <c:v>0.00094</c:v>
                </c:pt>
                <c:pt idx="61">
                  <c:v>0.00068</c:v>
                </c:pt>
                <c:pt idx="62">
                  <c:v>0.00049</c:v>
                </c:pt>
                <c:pt idx="63">
                  <c:v>0.00034</c:v>
                </c:pt>
                <c:pt idx="64">
                  <c:v>0.00024</c:v>
                </c:pt>
                <c:pt idx="65">
                  <c:v>0.00017</c:v>
                </c:pt>
                <c:pt idx="66">
                  <c:v>0.00011</c:v>
                </c:pt>
                <c:pt idx="67">
                  <c:v>0.00008</c:v>
                </c:pt>
                <c:pt idx="68">
                  <c:v>0.00005</c:v>
                </c:pt>
                <c:pt idx="69">
                  <c:v>0.00003</c:v>
                </c:pt>
                <c:pt idx="70">
                  <c:v>0.00002</c:v>
                </c:pt>
                <c:pt idx="71">
                  <c:v>0.00001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9D3F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C9D3F5"/>
                    </a:solidFill>
                    <a:latin typeface="Arial"/>
                  </a:rPr>
                  <a:t>число мюонов за минуту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3B6E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9D3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43B6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9D3F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C9D3F5"/>
                    </a:solidFill>
                    <a:latin typeface="Arial"/>
                  </a:rPr>
                  <a:t>плотность вероятности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9D3F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B5C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32B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7192" y="-1655064"/>
            <a:ext cx="2560320" cy="2560320"/>
          </a:xfrm>
          <a:prstGeom prst="ellipse">
            <a:avLst/>
          </a:prstGeom>
          <a:ln w="19050">
            <a:solidFill>
              <a:srgbClr val="2E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-1730502"/>
            <a:ext cx="3566160" cy="3566160"/>
          </a:xfrm>
          <a:prstGeom prst="ellipse">
            <a:avLst/>
          </a:prstGeom>
          <a:ln w="19050">
            <a:solidFill>
              <a:srgbClr val="F2874F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1352" y="-1805940"/>
            <a:ext cx="4572000" cy="4572000"/>
          </a:xfrm>
          <a:prstGeom prst="ellipse">
            <a:avLst/>
          </a:prstGeom>
          <a:ln w="19050">
            <a:solidFill>
              <a:srgbClr val="2E3A8C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28432" y="-1881378"/>
            <a:ext cx="5577840" cy="5577840"/>
          </a:xfrm>
          <a:prstGeom prst="ellipse">
            <a:avLst/>
          </a:prstGeom>
          <a:ln w="19050">
            <a:solidFill>
              <a:srgbClr val="F2874F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48640"/>
            <a:ext cx="-1463040" cy="2926080"/>
          </a:xfrm>
          <a:prstGeom prst="line">
            <a:avLst/>
          </a:prstGeom>
          <a:noFill/>
          <a:ln w="31750">
            <a:solidFill>
              <a:srgbClr val="F287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3337560"/>
            <a:ext cx="128016" cy="128016"/>
          </a:xfrm>
          <a:prstGeom prst="ellipse">
            <a:avLst/>
          </a:prstGeom>
          <a:solidFill>
            <a:srgbClr val="F2874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КОСМИЧЕСКИЕ ЛУЧИ · СТАТИСТИКА · ДЕТЕКТОР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Мюонный детектор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по счёту космических частиц: от видеозаписи детектора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статистики Пуассона и нормального распределения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2194560" cy="0"/>
          </a:xfrm>
          <a:prstGeom prst="line">
            <a:avLst/>
          </a:prstGeom>
          <a:noFill/>
          <a:ln w="25400">
            <a:solidFill>
              <a:srgbClr val="F28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записи: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Италия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видеозапись показаний детектора + OCR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 продолжается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КАРТИНА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на самом деле считаем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10128" cy="3566160"/>
          </a:xfrm>
          <a:prstGeom prst="roundRect">
            <a:avLst>
              <a:gd name="adj" fmla="val 221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03120"/>
            <a:ext cx="502920" cy="502920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берутся мюоны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42900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Космические лучи (в основном протоны) сталкиваются с ядрами атомов в верхних слоях атмосферы и рождают ливень частиц, среди которых — мюоны.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51376" y="1828800"/>
            <a:ext cx="3310128" cy="3566160"/>
          </a:xfrm>
          <a:prstGeom prst="roundRect">
            <a:avLst>
              <a:gd name="adj" fmla="val 221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2103120"/>
            <a:ext cx="502920" cy="502920"/>
          </a:xfrm>
          <a:prstGeom prst="ellipse">
            <a:avLst/>
          </a:prstGeom>
          <a:solidFill>
            <a:srgbClr val="F2874F"/>
          </a:solidFill>
          <a:ln/>
        </p:spPr>
      </p:sp>
      <p:sp>
        <p:nvSpPr>
          <p:cNvPr id="11" name="Text 9"/>
          <p:cNvSpPr/>
          <p:nvPr/>
        </p:nvSpPr>
        <p:spPr>
          <a:xfrm>
            <a:off x="440740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07408" y="2788920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они долетают до земли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07408" y="342900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релятивистскому замедлению времени мюоны, несмотря на короткое время жизни (~2.2 мкс), успевают пролететь атмосферу и достичь поверхности.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54112" y="1828800"/>
            <a:ext cx="3310128" cy="3566160"/>
          </a:xfrm>
          <a:prstGeom prst="roundRect">
            <a:avLst>
              <a:gd name="adj" fmla="val 221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10144" y="2103120"/>
            <a:ext cx="502920" cy="502920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01014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10144" y="2788920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видит детектор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10144" y="342900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Пластиковый сцинтиллятор + кремниевый фотоумножитель (SiPM) регистрируют вспышку света от прохождения мюона и увеличивают счётчик на 1.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моря на горизонтальную площадку ~1 см² приходится порядка одного мюона в минуту — этот масштаб и определяет статистику эксперимента.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ЭКСПЕРИМЕНТАЛЬНАЯ УСТАНОВКА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сцинтиллятора до CSV-файла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Сцинтиллятор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Пластик светится при пролёте заряженной частицы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2834640"/>
            <a:ext cx="168250" cy="0"/>
          </a:xfrm>
          <a:prstGeom prst="line">
            <a:avLst/>
          </a:prstGeom>
          <a:noFill/>
          <a:ln w="19050">
            <a:solidFill>
              <a:srgbClr val="5A5F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44522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425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54250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54250" y="29260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Кремниевый фотоумножитель ловит вспышку света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2154" y="2834640"/>
            <a:ext cx="168250" cy="0"/>
          </a:xfrm>
          <a:prstGeom prst="line">
            <a:avLst/>
          </a:prstGeom>
          <a:noFill/>
          <a:ln w="19050">
            <a:solidFill>
              <a:srgbClr val="5A5F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40403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50131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0131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Счётчик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50131" y="29260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Электроника увеличивает накопительный счёт на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8035" y="2834640"/>
            <a:ext cx="168250" cy="0"/>
          </a:xfrm>
          <a:prstGeom prst="line">
            <a:avLst/>
          </a:prstGeom>
          <a:noFill/>
          <a:ln w="19050">
            <a:solidFill>
              <a:srgbClr val="5A5F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36285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46013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46013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Видеокамера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46013" y="29260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Записывает показания дисплея счётчика во времени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63917" y="2834640"/>
            <a:ext cx="168250" cy="0"/>
          </a:xfrm>
          <a:prstGeom prst="line">
            <a:avLst/>
          </a:prstGeom>
          <a:noFill/>
          <a:ln w="19050">
            <a:solidFill>
              <a:srgbClr val="5A5F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32166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41894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41894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41894" y="29260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Распознаёт цифры с каждого кадра видео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59798" y="2834640"/>
            <a:ext cx="168250" cy="0"/>
          </a:xfrm>
          <a:prstGeom prst="line">
            <a:avLst/>
          </a:prstGeom>
          <a:noFill/>
          <a:ln w="19050">
            <a:solidFill>
              <a:srgbClr val="5A5F7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28048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2E3A8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37776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37776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CSV-лог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37776" y="29260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+ накопительный счёт — сырые данные для анализа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14800"/>
            <a:ext cx="10607040" cy="1554480"/>
          </a:xfrm>
          <a:prstGeom prst="roundRect">
            <a:avLst>
              <a:gd name="adj" fmla="val 4706"/>
            </a:avLst>
          </a:prstGeom>
          <a:solidFill>
            <a:srgbClr val="FFF3EC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31596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особенность данных: счётчик — накопительный (как одометр), а не мгновенное число мюонов. Чтобы получить число мюонов за интервал времени, нужно брать разность соседних отсчётов, а не сами значения счётчика.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СТАТИСТИЧЕСКАЯ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случайный поток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Прибытие мюонов на детектор — классический пуассоновский процесс: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46304" cy="146304"/>
          </a:xfrm>
          <a:prstGeom prst="ellipse">
            <a:avLst/>
          </a:prstGeom>
          <a:solidFill>
            <a:srgbClr val="34B3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независимы друг от друга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146304" cy="146304"/>
          </a:xfrm>
          <a:prstGeom prst="ellipse">
            <a:avLst/>
          </a:prstGeom>
          <a:solidFill>
            <a:srgbClr val="34B3A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986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интенсивность потока (λ) постоянна на интервале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57016"/>
            <a:ext cx="146304" cy="146304"/>
          </a:xfrm>
          <a:prstGeom prst="ellipse">
            <a:avLst/>
          </a:prstGeom>
          <a:solidFill>
            <a:srgbClr val="34B3A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655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двух событий одновременно пренебрежимо мала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1828800"/>
            <a:ext cx="4937760" cy="2834640"/>
          </a:xfrm>
          <a:prstGeom prst="roundRect">
            <a:avLst>
              <a:gd name="adj" fmla="val 3226"/>
            </a:avLst>
          </a:prstGeom>
          <a:solidFill>
            <a:srgbClr val="232B5C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D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 Пуассона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 = k)  =  λᵏ e−λ / k!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86600" y="3337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— среднее число мюонов за минуту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— реально зарегистрированное число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86600" y="4069080"/>
            <a:ext cx="4206240" cy="0"/>
          </a:xfrm>
          <a:prstGeom prst="line">
            <a:avLst/>
          </a:prstGeom>
          <a:noFill/>
          <a:ln w="12700">
            <a:solidFill>
              <a:srgbClr val="2E3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эту модель мы проверяем на реальных данных детектора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СВОЙСТВО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 равна среднему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F0F1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Var(N) = E[N] = 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Стандартное отклонение счёта: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√λ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та самая «статистическая ошибка счёта √N», с которой физики постоянно работают: если насчитали N событий, типичная погрешность ≈ √N.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E3A8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12140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77.5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327648" y="2944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мюонов в минуту (λ)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7648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первым данным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37947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61B3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399592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8.8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27648" y="4818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σ, разброс по минутам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5120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√λ при λ ≈ 77.5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ДАННЫЕ · ПЕРВЫЕ 7.7 МИНУТЫ ЗАПИСИ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Накопительный счётчик во времени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10607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линейный рост подтверждает примерно постоянную интенсивность потока — это необходимое условие для пуассоновской модели. (Один явный выброс OCR из этого графика исключён — см. следующий слайд.)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Реальный OCR — реальные проблемы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10128" cy="3520440"/>
          </a:xfrm>
          <a:prstGeom prst="roundRect">
            <a:avLst>
              <a:gd name="adj" fmla="val 221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3520440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804672" y="2130552"/>
            <a:ext cx="384048" cy="384048"/>
          </a:xfrm>
          <a:prstGeom prst="ellipse">
            <a:avLst/>
          </a:prstGeom>
          <a:solidFill>
            <a:srgbClr val="F2874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Немонотонный выброс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291840"/>
            <a:ext cx="27980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кадр показал скачок счётчика на 750+ за 1.1 сек — физически невозможно. Явная ошибка распознавания цифр, точка исключена из анализа.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51376" y="1874520"/>
            <a:ext cx="3310128" cy="3520440"/>
          </a:xfrm>
          <a:prstGeom prst="roundRect">
            <a:avLst>
              <a:gd name="adj" fmla="val 221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51376" y="1874520"/>
            <a:ext cx="109728" cy="3520440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4407408" y="2130552"/>
            <a:ext cx="384048" cy="384048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07408" y="2697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Десятичный разделитель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07408" y="3291840"/>
            <a:ext cx="27980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«частота» записано в формате 1,270 — это 1.270 Гц, а не тысяча двести семьдесят. Нужна замена запятой на точку при парсинге.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54112" y="1874520"/>
            <a:ext cx="3310128" cy="3520440"/>
          </a:xfrm>
          <a:prstGeom prst="roundRect">
            <a:avLst>
              <a:gd name="adj" fmla="val 221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54112" y="1874520"/>
            <a:ext cx="109728" cy="3520440"/>
          </a:xfrm>
          <a:prstGeom prst="rect">
            <a:avLst/>
          </a:prstGeom>
          <a:ln/>
        </p:spPr>
      </p:sp>
      <p:sp>
        <p:nvSpPr>
          <p:cNvPr id="18" name="Shape 16"/>
          <p:cNvSpPr/>
          <p:nvPr/>
        </p:nvSpPr>
        <p:spPr>
          <a:xfrm>
            <a:off x="8010144" y="2130552"/>
            <a:ext cx="384048" cy="384048"/>
          </a:xfrm>
          <a:prstGeom prst="ellipse">
            <a:avLst/>
          </a:prstGeom>
          <a:solidFill>
            <a:srgbClr val="34B3A0"/>
          </a:solidFill>
          <a:ln/>
        </p:spPr>
      </p:sp>
      <p:sp>
        <p:nvSpPr>
          <p:cNvPr id="19" name="Text 17"/>
          <p:cNvSpPr/>
          <p:nvPr/>
        </p:nvSpPr>
        <p:spPr>
          <a:xfrm>
            <a:off x="8010144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10144" y="2697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Разгонный кадр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10144" y="3291840"/>
            <a:ext cx="27980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первый кадр видео сделан до того, как показания счётчика стабилизировались на экране — тоже исключается.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Мораль: сырые OCR-данные нельзя агрегировать напрямую — сначала чистка (монотонность, формат чисел, разгонные кадры), и только потом статистика.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ТЕОРЕТИЧЕСКАЯ МОДЕЛЬ · Λ ≈ 77.5 / МИН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Пуассон против нормального приближения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10607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λ ≈ 77.5 асимметрия Пуассона ~1/√λ ≈ 0.11 — распределение уже почти симметрично, и нормальная кривая ложится на него очень точно.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АНАЛИЗА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сигнал — несколько временных окон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того чтобы ждать многочасовую запись ради минутной статистики, одни и те же сырые данные агрегируются на нескольких масштабах: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0607040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463040"/>
                <a:gridCol w="1920240"/>
                <a:gridCol w="4114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Окно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λ (среднее)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σ = √λ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Асимметрия ~1/√λ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Плюсы / минусы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D2A"/>
                          </a:solidFill>
                        </a:rPr>
                        <a:t>10 секунд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12.9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3.6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0.28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Много независимых точек, но заметная асимметрия — Гаусс работает хуже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D2A"/>
                          </a:solidFill>
                        </a:rPr>
                        <a:t>30 секунд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38.8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6.2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0.16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Компромисс между числом точек и близостью к нормальному виду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D2A"/>
                          </a:solidFill>
                        </a:rPr>
                        <a:t>60 секунд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77.5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8.8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≈ 0.11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D2A"/>
                          </a:solidFill>
                        </a:rPr>
                        <a:t>Наиболее «гауссово», но меньше независимых точек на тот же отрезок видео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3E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19379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показать на одних и тех же данных, как асимметрия распределения растёт при уменьшении λ, и как нормальное приближение постепенно перестаёт работать.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ЭКСПЕРИМЕНТА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 и что дальше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Собрано на данный момент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 мин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2331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обработано OCR на момент подготовки этого слайда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568 событий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накопительный счёт (одна ошибка распознавания исключена)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74–78 / мин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4434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оценка интенсивности потока 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0" cy="3931920"/>
          </a:xfrm>
          <a:prstGeom prst="line">
            <a:avLst/>
          </a:prstGeom>
          <a:noFill/>
          <a:ln w="19050">
            <a:solidFill>
              <a:srgbClr val="232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Нужно для строгой проверки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2340864"/>
            <a:ext cx="128016" cy="128016"/>
          </a:xfrm>
          <a:prstGeom prst="ellipse">
            <a:avLst/>
          </a:prstGeom>
          <a:solidFill>
            <a:srgbClr val="34B3A0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286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 минут записи для корректного χ²-теста согласия с Пуассоном (нужно ≥5 ожидаемых значений на бин)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3392424"/>
            <a:ext cx="128016" cy="128016"/>
          </a:xfrm>
          <a:prstGeom prst="ellipse">
            <a:avLst/>
          </a:prstGeom>
          <a:solidFill>
            <a:srgbClr val="34B3A0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37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«дисперсия ≈ среднее» на полных данных — главный диагностический признак пуассоновости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4443984"/>
            <a:ext cx="128016" cy="128016"/>
          </a:xfrm>
          <a:prstGeom prst="ellipse">
            <a:avLst/>
          </a:prstGeom>
          <a:solidFill>
            <a:srgbClr val="34B3A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389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гистограмм на 10с / 30с / 60с окнах из одного и того же видео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Мюонный детектор: эксперимент со счётом космических частиц</dc:title>
  <dc:subject>PptxGenJS Presentation</dc:subject>
  <dc:creator>Cosmic Ray Lab</dc:creator>
  <cp:lastModifiedBy>Cosmic Ray Lab</cp:lastModifiedBy>
  <cp:revision>1</cp:revision>
  <dcterms:created xsi:type="dcterms:W3CDTF">2026-07-04T16:11:12Z</dcterms:created>
  <dcterms:modified xsi:type="dcterms:W3CDTF">2026-07-04T16:11:12Z</dcterms:modified>
</cp:coreProperties>
</file>