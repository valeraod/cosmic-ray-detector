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Данные (10-сек. окна)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0.0021141649048625794</c:v>
                </c:pt>
                <c:pt idx="1">
                  <c:v>0</c:v>
                </c:pt>
                <c:pt idx="2">
                  <c:v>0.0021141649048625794</c:v>
                </c:pt>
                <c:pt idx="3">
                  <c:v>0.006342494714587738</c:v>
                </c:pt>
                <c:pt idx="4">
                  <c:v>0.010570824524312896</c:v>
                </c:pt>
                <c:pt idx="5">
                  <c:v>0.014799154334038054</c:v>
                </c:pt>
                <c:pt idx="6">
                  <c:v>0.023255813953488372</c:v>
                </c:pt>
                <c:pt idx="7">
                  <c:v>0.05708245243128964</c:v>
                </c:pt>
                <c:pt idx="8">
                  <c:v>0.06765327695560254</c:v>
                </c:pt>
                <c:pt idx="9">
                  <c:v>0.06976744186046512</c:v>
                </c:pt>
                <c:pt idx="10">
                  <c:v>0.08879492600422834</c:v>
                </c:pt>
                <c:pt idx="11">
                  <c:v>0.11416490486257928</c:v>
                </c:pt>
                <c:pt idx="12">
                  <c:v>0.13742071881606766</c:v>
                </c:pt>
                <c:pt idx="13">
                  <c:v>0.09936575052854123</c:v>
                </c:pt>
                <c:pt idx="14">
                  <c:v>0.09513742071881606</c:v>
                </c:pt>
                <c:pt idx="15">
                  <c:v>0.05919661733615222</c:v>
                </c:pt>
                <c:pt idx="16">
                  <c:v>0.04439746300211417</c:v>
                </c:pt>
                <c:pt idx="17">
                  <c:v>0.042283298097251586</c:v>
                </c:pt>
                <c:pt idx="18">
                  <c:v>0.03171247357293869</c:v>
                </c:pt>
                <c:pt idx="19">
                  <c:v>0.019027484143763214</c:v>
                </c:pt>
                <c:pt idx="20">
                  <c:v>0.008456659619450317</c:v>
                </c:pt>
                <c:pt idx="21">
                  <c:v>0.0021141649048625794</c:v>
                </c:pt>
                <c:pt idx="22">
                  <c:v>0.0021141649048625794</c:v>
                </c:pt>
                <c:pt idx="23">
                  <c:v>0.0021141649048625794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Нормальное распределение</c:v>
                </c:pt>
              </c:strCache>
            </c:strRef>
          </c:tx>
          <c:spPr>
            <a:solidFill>
              <a:srgbClr val="FFB800"/>
            </a:solidFill>
            <a:ln w="34925" cap="flat">
              <a:solidFill>
                <a:srgbClr val="FFB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B800"/>
              </a:solidFill>
              <a:ln w="9525" cap="flat">
                <a:solidFill>
                  <a:srgbClr val="FFB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0.0004888071409223627</c:v>
                </c:pt>
                <c:pt idx="1">
                  <c:v>0.00117756518803947</c:v>
                </c:pt>
                <c:pt idx="2">
                  <c:v>0.002624867896123464</c:v>
                </c:pt>
                <c:pt idx="3">
                  <c:v>0.00541383506409487</c:v>
                </c:pt>
                <c:pt idx="4">
                  <c:v>0.010331839866972361</c:v>
                </c:pt>
                <c:pt idx="5">
                  <c:v>0.01824422370337289</c:v>
                </c:pt>
                <c:pt idx="6">
                  <c:v>0.02980905357140778</c:v>
                </c:pt>
                <c:pt idx="7">
                  <c:v>0.0450656939279464</c:v>
                </c:pt>
                <c:pt idx="8">
                  <c:v>0.06304040788951727</c:v>
                </c:pt>
                <c:pt idx="9">
                  <c:v>0.08159565681579498</c:v>
                </c:pt>
                <c:pt idx="10">
                  <c:v>0.09772150510264982</c:v>
                </c:pt>
                <c:pt idx="11">
                  <c:v>0.10828999370280863</c:v>
                </c:pt>
                <c:pt idx="12">
                  <c:v>0.11103543185986768</c:v>
                </c:pt>
                <c:pt idx="13">
                  <c:v>0.10534402795311514</c:v>
                </c:pt>
                <c:pt idx="14">
                  <c:v>0.0924769144096542</c:v>
                </c:pt>
                <c:pt idx="15">
                  <c:v>0.07511589005576554</c:v>
                </c:pt>
                <c:pt idx="16">
                  <c:v>0.05645538599147657</c:v>
                </c:pt>
                <c:pt idx="17">
                  <c:v>0.03926033680519157</c:v>
                </c:pt>
                <c:pt idx="18">
                  <c:v>0.025262582068363567</c:v>
                </c:pt>
                <c:pt idx="19">
                  <c:v>0.015040993730687204</c:v>
                </c:pt>
                <c:pt idx="20">
                  <c:v>0.008286104375451414</c:v>
                </c:pt>
                <c:pt idx="21">
                  <c:v>0.004223761092697306</c:v>
                </c:pt>
                <c:pt idx="22">
                  <c:v>0.0019921561093772726</c:v>
                </c:pt>
                <c:pt idx="23">
                  <c:v>0.0008694056662757377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447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6315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A447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83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AA6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018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ШКОЛЬНАЯ НАУЧНАЯ РАБОТА · ФИЗИКА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Охота за мюонами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Самодельный детектор космических частиц: от вебкамеры до статистики мюонов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429768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/ см² / мин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" y="481888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мюонов пронизывает поверхность Земли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4160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429768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44568" y="481888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зафиксировал прототип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41605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4297680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065008" y="481888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независимых источника данных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выполнена с использованием нейросети Claude (модель Sonnet 5)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Невидимый ливень над головой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секунду через каждый квадратный сантиметр поверхности Земли пролетает примерно один мюон — тяжёлый «родственник» электрона, рождённый при столкновении космических лучей с атмосферой на высоте 10–15 км.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Мюоны легко проходят сквозь стены, тело человека и даже метры бетона — и почти никак себя не выдают. Мне стало интересно: можно ли увидеть их «своими руками», без дорогого лабораторного оборудования?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69480" y="160020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icons/atom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96596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2926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Мюон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26680" y="342900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≈207 масс электрона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близка к скорости света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распад пионов в верхних слоях атмосферы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Готовые решения подошли не полностью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интернете нашлись приложения, которые обещают детектировать мюоны на матрице телефона или вебкамеры (принцип похож на проект CRAYFIS/SORAMAME). При ближайшем знакомстве с ними встретились два типа сложностей: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34640"/>
            <a:ext cx="685800" cy="6858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FFB800"/>
            </a:solidFill>
            <a:prstDash val="solid"/>
          </a:ln>
        </p:spPr>
      </p:sp>
      <p:pic>
        <p:nvPicPr>
          <p:cNvPr id="7" name="Image 0" descr="icons/warning_FFB8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992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Работали не всегда так, как заявлено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Иногда приложение запускалось нестабильно, детектор срабатывал редко, либо было непонятно, что именно он засчитывает как событие.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514600"/>
            <a:ext cx="5029200" cy="2651760"/>
          </a:xfrm>
          <a:prstGeom prst="roundRect">
            <a:avLst>
              <a:gd name="adj" fmla="val 3448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834640"/>
            <a:ext cx="685800" cy="6858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FFB800"/>
            </a:solidFill>
            <a:prstDash val="solid"/>
          </a:ln>
        </p:spPr>
      </p:sp>
      <p:pic>
        <p:nvPicPr>
          <p:cNvPr id="12" name="Image 1" descr="icons/globe_FFB8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9992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63640" y="3703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основном рассчитаны на глобальный сбор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263640" y="42062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программ работает прежде всего как узел общемировой сети — они присылают события на сервер проекта, но не всегда дают увидеть и проверить конкретный кадр самому.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1F45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захотелось сделать свой прототип — простой, прозрачный и полностью подконтрольный, чтобы своими глазами видеть каждое зафиксированное событие.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ПРОТОТИПА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вебкамеры как детектор частиц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не новая: физики-любители по всему миру используют то, что CMOS-матрица телефона или вебкамеры — это, по сути, решётка миниатюрных полупроводниковых детекторов.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заряженная частица (например, мюон) пролетает сквозь чувствительный слой сенсора, она оставляет на кадре яркую точку или короткий вытянутый след — совсем как в пузырьковой камере, только в миниатюре.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 объектив (чтобы исключить обычный свет) и анализируя видеопоток покадрово в браузере, можно попробовать поймать такие события самостоятельно.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91640"/>
            <a:ext cx="4663440" cy="3931920"/>
          </a:xfrm>
          <a:prstGeom prst="roundRect">
            <a:avLst>
              <a:gd name="adj" fmla="val 2326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0" y="1975104"/>
            <a:ext cx="502920" cy="50292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7" name="Image 0" descr="icons/chip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2093976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0" y="19019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закрыта от света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заклеен непрозрачным материалом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75220" y="2496312"/>
            <a:ext cx="0" cy="548640"/>
          </a:xfrm>
          <a:prstGeom prst="line">
            <a:avLst/>
          </a:prstGeom>
          <a:noFill/>
          <a:ln w="12700">
            <a:solidFill>
              <a:srgbClr val="00E5FF">
                <a:alpha val="60000"/>
              </a:srgbClr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223760" y="2816352"/>
            <a:ext cx="502920" cy="50292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2" name="Image 1" descr="icons/search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293522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09560" y="2743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Покадровый анализ в браузере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909560" y="30815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ярких пикселей выше порога шума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475220" y="3337560"/>
            <a:ext cx="0" cy="548640"/>
          </a:xfrm>
          <a:prstGeom prst="line">
            <a:avLst/>
          </a:prstGeom>
          <a:noFill/>
          <a:ln w="12700">
            <a:solidFill>
              <a:srgbClr val="00E5FF">
                <a:alpha val="60000"/>
              </a:srgbClr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223760" y="3657600"/>
            <a:ext cx="502920" cy="50292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7" name="Image 2" descr="icons/crosshair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377647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09560" y="3584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дефектов сенсора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909560" y="39227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исключение «горячих» пикселей матрицы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475220" y="4178808"/>
            <a:ext cx="0" cy="548640"/>
          </a:xfrm>
          <a:prstGeom prst="line">
            <a:avLst/>
          </a:prstGeom>
          <a:noFill/>
          <a:ln w="12700">
            <a:solidFill>
              <a:srgbClr val="00E5FF">
                <a:alpha val="60000"/>
              </a:srgbClr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7223760" y="4498848"/>
            <a:ext cx="502920" cy="50292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22" name="Image 3" descr="icons/atom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2" y="4617720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09560" y="44256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в событие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909560" y="47640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или трек сохраняется в журнал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ДЕТЕКТОРА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Алгоритм: от шума матрицы к событию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— одностраничное веб-приложение (HTML + JS), работающее прямо в браузере, без установки и без сервера.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41448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68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яркости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791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с камеры сравнивается с фоном; пиксели ярче порога — кандидаты в событие.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943600" y="224028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44768" y="2441448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368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Отсечение краёв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6791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Крайние пиксели кадра исключаются — там сильнее шум и артефакты кодека USB-камеры.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849624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«горячих» пикселей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Точки, срабатывающие в одном месте много раз, — это дефект сенсора, а не частица; такие зоны исключаются из анализа автоматически.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0" y="3648456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3849624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3776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слабых треков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4087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Параллельно, вторым, более низким порогом ищутся цепочки из нескольких тусклых пикселей — след минимально ионизирующей частицы.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8640" y="5056632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5257800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184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формы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49554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кластера считается вытянутость (elongation): случайный шум даёт круглое пятно, трек частицы — вытянутую линию.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0" y="5056632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5257800"/>
            <a:ext cx="457200" cy="45720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5184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журнал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549554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с координатами, яркостью, площадью, формой и снимком-кропом 40×40 px сохраняется в CSV.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ПРОТОТИПА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улов: 32 события за 58 минут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в журнале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вытянутых трека (line)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мин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 сессии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нескольких экспериментов и настройки фильтров удалось получить события с высокой вытянутостью формы — они с высокой долей вероятности являются треками мюонов, а не шумом матрицы.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7498080" cy="2743200"/>
          </a:xfrm>
          <a:prstGeom prst="roundRect">
            <a:avLst>
              <a:gd name="adj" fmla="val 2667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0" descr="track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11680"/>
            <a:ext cx="7132320" cy="2286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43400" y="4315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Кропы 40×40 px вокруг зафиксированных событий (пиксели увеличены ×10 для наглядности)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4709160"/>
            <a:ext cx="7498080" cy="1417320"/>
          </a:xfrm>
          <a:prstGeom prst="roundRect">
            <a:avLst>
              <a:gd name="adj" fmla="val 5161"/>
            </a:avLst>
          </a:prstGeom>
          <a:solidFill>
            <a:srgbClr val="10183A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470916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похожих друг на друга следов повторялась в одной и той же области кадра — это могло указывать на дефект самой матрицы, а не на реальные частицы. Такие зоны детектор впоследствии учится исключать автоматически.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Своих данных мало для статистики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583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события за час работы одной вебкамеры — это интересное наблюдение, но для построения полноценного распределения (по времени, интенсивности, частоте) этого недостаточно: слишком мала выборка и слишком высок относительный вклад шума и дефектов сенсора.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увидеть статистику мюонов в масштабе, нужен доступ к данным настоящей сети детекторов, работающих непрерывно и по всему миру.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прототип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057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8638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/ 1 сенсор / 58 минут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35661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61F4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детекторов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4069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86384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станций по всему миру, непрерывно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ИСТОЧНИК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CosmicRaysLive: мир в реальном времени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Android-приложение, которое подключается к настоящим детекторам мюонов, расставленным по всему миру, и показывает их показания в реальном времени.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640080" cy="64008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7" name="Image 0" descr="icons/mobile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7523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Мобильное приложение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Устанавливается на Android, подключение к станциям выбирается прямо в интерфейсе.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2" name="Image 1" descr="icons/globe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7523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Глобальная сеть станций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детекторы мюонов в разных странах передают показания live.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606040"/>
            <a:ext cx="640080" cy="64008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7" name="Image 2" descr="icons/chart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7523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Live-показания на экране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событий, частота (Hz), время последнего события — обновляются в реальном времени.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2120A"/>
          </a:solidFill>
          <a:ln/>
        </p:spPr>
      </p:sp>
      <p:pic>
        <p:nvPicPr>
          <p:cNvPr id="21" name="Image 3" descr="icons/warning_FFB8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3036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834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даёт прямого экспорта накопленных данных — показания видны только на экране, скопировать их напрямую нельзя.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OCR-КОНВЕЙЕР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записи экрана до таблицы CSV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данные нельзя выгрузить напрямую — их можно распознать с видео. Для этого был написан отдельный инструмент «Cosmic Ray Log Extractor».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87752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7" name="Image 0" descr="icons/video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157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2918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экрана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374904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Показания CosmicRaysLive записываются на видео в реальном времени.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150108" y="3749040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Shape 9"/>
          <p:cNvSpPr/>
          <p:nvPr/>
        </p:nvSpPr>
        <p:spPr>
          <a:xfrm>
            <a:off x="3291840" y="233172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47872" y="2587752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4" name="Image 1" descr="icons/search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7157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47872" y="32918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Распознавание кадров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47872" y="374904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разбирается покадрово; из заданных областей экрана (ROI) вырезаются нужные поля.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5893308" y="3749040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233172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1072" y="2587752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21" name="Image 2" descr="icons/chip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71576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91072" y="32918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в браузере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91072" y="374904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Tesseract.js распознаёт цифры Timer, Rate (Hz), Last Event Time и Event Count — полностью локально, без сервера.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8636508" y="3749040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6" name="Shape 21"/>
          <p:cNvSpPr/>
          <p:nvPr/>
        </p:nvSpPr>
        <p:spPr>
          <a:xfrm>
            <a:off x="8778240" y="233172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34272" y="2587752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28" name="Image 3" descr="icons/csv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71576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8813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A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034272" y="329184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Экспорт в CSV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034272" y="3749040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строка журнала записывается при каждом изменении показания Timer — так формируется таблица событий.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таблица «index, video_time_s, timer, rate_hz, last_event_time, event_count» — компактная история показаний детектора, извлечённая прямо из видео.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ПО СЕТИ COSMICRAYSLIVE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числа частиц по 10-секундным интервалам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разбит на 473 десятисекундных окон (всего 6065 частиц). Для каждого окна посчитано число зарегистрированных событий; полученное распределение хорошо приближается нормальным законом — характерным для случайного потока космических частиц.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018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 зарегистрировано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55848" y="21488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0183A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240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38728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10-секундных окон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21488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0183A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2240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12,8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45936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число частиц за 10 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70264" y="21488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0183A"/>
          </a:solidFill>
          <a:ln/>
        </p:spPr>
      </p:sp>
      <p:sp>
        <p:nvSpPr>
          <p:cNvPr id="15" name="Text 13"/>
          <p:cNvSpPr/>
          <p:nvPr/>
        </p:nvSpPr>
        <p:spPr>
          <a:xfrm>
            <a:off x="9153144" y="2240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3,6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53144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 отклонение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1064240" cy="3246120"/>
          </a:xfrm>
          <a:prstGeom prst="roundRect">
            <a:avLst>
              <a:gd name="adj" fmla="val 225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9242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вероятности  —  число частиц за 10 с  (μ=12,8, σ=3,6)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77240" y="3749040"/>
          <a:ext cx="10607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77240" y="62179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зарегистрированных частиц за 10-секундное окно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удалось сделать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6" name="Image 0" descr="icons/check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854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842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Собран и отлажен собственный веб-детектор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одностраничное приложение, анализирующее видеопоток вебкамеры в браузере в реальном времени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1" name="Image 1" descr="icons/flask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842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Зафиксированы вероятные треки частиц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с выраженной вытянутой формой — характерным признаком следа заряженной частицы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6" name="Image 2" descr="icons/laptop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1056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044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Написан инструмент распознавания видео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4480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OCR-конвейер на Tesseract.js, превращающий запись экрана внешнего приложения в таблицу CSV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21" name="Image 3" descr="icons/chart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056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044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Построено распределение частиц по 10-сек. интервалам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4480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гистограмма хорошо приближается нормальным распределением — как и ожидается для случайного потока космических частиц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и благодарности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5" name="Image 0" descr="icons/robot_00E5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5)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в разработке кода детектора, OCR-инструмента и оформлении работы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0" name="Image 1" descr="icons/laptop_00E5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945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JavaScript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Браузерные приложения без установки и серверной части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15" name="Image 2" descr="icons/chip_00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945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Оптическое распознавание символов прямо в браузере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52560" y="18288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0183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0B0F1E"/>
          </a:solidFill>
          <a:ln w="15875">
            <a:solidFill>
              <a:srgbClr val="00E5FF"/>
            </a:solidFill>
            <a:prstDash val="solid"/>
          </a:ln>
        </p:spPr>
      </p:sp>
      <p:pic>
        <p:nvPicPr>
          <p:cNvPr id="20" name="Image 3" descr="icons/mobile_00E5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9456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8116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CosmicRaysLive (Android)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281160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сети реальных детекторов мюонов по всему миру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4709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548640" y="5349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Охота за мюонами</dc:title>
  <dc:subject>PptxGenJS Presentation</dc:subject>
  <dc:creator>Валерий</dc:creator>
  <cp:lastModifiedBy>Валерий</cp:lastModifiedBy>
  <cp:revision>1</cp:revision>
  <dcterms:created xsi:type="dcterms:W3CDTF">2026-07-05T18:00:59Z</dcterms:created>
  <dcterms:modified xsi:type="dcterms:W3CDTF">2026-07-05T18:00:59Z</dcterms:modified>
</cp:coreProperties>
</file>